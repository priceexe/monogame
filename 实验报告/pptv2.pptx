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3"/>
    <p:sldId id="258" r:id="rId4"/>
    <p:sldId id="261" r:id="rId5"/>
    <p:sldId id="257" r:id="rId6"/>
    <p:sldId id="265" r:id="rId7"/>
    <p:sldId id="269" r:id="rId8"/>
    <p:sldId id="270" r:id="rId9"/>
    <p:sldId id="271" r:id="rId10"/>
    <p:sldId id="272" r:id="rId11"/>
    <p:sldId id="273" r:id="rId12"/>
    <p:sldId id="274" r:id="rId13"/>
    <p:sldId id="267" r:id="rId14"/>
    <p:sldId id="275" r:id="rId15"/>
    <p:sldId id="276" r:id="rId16"/>
    <p:sldId id="263"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431"/>
    <a:srgbClr val="065980"/>
    <a:srgbClr val="244B61"/>
    <a:srgbClr val="23978B"/>
    <a:srgbClr val="E9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6"/>
    <p:restoredTop sz="94683"/>
  </p:normalViewPr>
  <p:slideViewPr>
    <p:cSldViewPr snapToGrid="0" snapToObjects="1">
      <p:cViewPr>
        <p:scale>
          <a:sx n="75" d="100"/>
          <a:sy n="75" d="100"/>
        </p:scale>
        <p:origin x="1048" y="5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289352-7C6D-AE46-B3D1-3043903F0858}"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45CFF-F689-594A-ABD3-6ED0736D5C7D}"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smtClean="0"/>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smtClean="0"/>
              <a:t>单击此处编辑母版副标题样式</a:t>
            </a:r>
            <a:endParaRPr kumimoji="1" lang="zh-CN" altLang="en-US"/>
          </a:p>
        </p:txBody>
      </p:sp>
      <p:sp>
        <p:nvSpPr>
          <p:cNvPr id="4" name="日期占位符 3"/>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smtClean="0"/>
              <a:t>单击此处编辑母版文本样式</a:t>
            </a:r>
            <a:endParaRPr kumimoji="1" lang="zh-CN" altLang="en-US" smtClean="0"/>
          </a:p>
        </p:txBody>
      </p:sp>
      <p:sp>
        <p:nvSpPr>
          <p:cNvPr id="4" name="日期占位符 3"/>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5" name="日期占位符 4"/>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endParaRPr kumimoji="1"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endParaRPr kumimoji="1"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7" name="日期占位符 6"/>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日期占位符 2"/>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smtClean="0"/>
              <a:t>单击此处编辑母版文本样式</a:t>
            </a:r>
            <a:endParaRPr kumimoji="1" lang="zh-CN" altLang="en-US" smtClean="0"/>
          </a:p>
        </p:txBody>
      </p:sp>
      <p:sp>
        <p:nvSpPr>
          <p:cNvPr id="5" name="日期占位符 4"/>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smtClean="0"/>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smtClean="0"/>
              <a:t>单击此处编辑母版文本样式</a:t>
            </a:r>
            <a:endParaRPr kumimoji="1" lang="zh-CN" altLang="en-US" smtClean="0"/>
          </a:p>
        </p:txBody>
      </p:sp>
      <p:sp>
        <p:nvSpPr>
          <p:cNvPr id="5" name="日期占位符 4"/>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43E7B76-6D4A-D043-9FCE-C1FDFE2F9D33}"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8CCF1B-7B1A-C644-B031-CDCF7AE94813}"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3E7B76-6D4A-D043-9FCE-C1FDFE2F9D3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52399" y="0"/>
            <a:ext cx="12344400" cy="6857999"/>
          </a:xfrm>
          <a:prstGeom prst="rect">
            <a:avLst/>
          </a:prstGeom>
          <a:solidFill>
            <a:srgbClr val="E9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3" name="图片 12" descr="图片 1 拷贝"/>
          <p:cNvPicPr>
            <a:picLocks noChangeAspect="1"/>
          </p:cNvPicPr>
          <p:nvPr/>
        </p:nvPicPr>
        <p:blipFill>
          <a:blip r:embed="rId1"/>
          <a:stretch>
            <a:fillRect/>
          </a:stretch>
        </p:blipFill>
        <p:spPr>
          <a:xfrm>
            <a:off x="-152400" y="238760"/>
            <a:ext cx="12345670" cy="6599555"/>
          </a:xfrm>
          <a:prstGeom prst="rect">
            <a:avLst/>
          </a:prstGeom>
        </p:spPr>
      </p:pic>
      <p:sp>
        <p:nvSpPr>
          <p:cNvPr id="5" name="文本框 4"/>
          <p:cNvSpPr txBox="1"/>
          <p:nvPr/>
        </p:nvSpPr>
        <p:spPr>
          <a:xfrm>
            <a:off x="356235" y="2052955"/>
            <a:ext cx="11643360" cy="2118995"/>
          </a:xfrm>
          <a:prstGeom prst="rect">
            <a:avLst/>
          </a:prstGeom>
          <a:noFill/>
        </p:spPr>
        <p:txBody>
          <a:bodyPr wrap="square" rtlCol="0">
            <a:noAutofit/>
          </a:bodyPr>
          <a:lstStyle/>
          <a:p>
            <a:pPr algn="ctr"/>
            <a:r>
              <a:rPr kumimoji="1" lang="zh-CN" altLang="en-US" sz="4000" b="1" dirty="0">
                <a:solidFill>
                  <a:srgbClr val="244B61"/>
                </a:solidFill>
                <a:latin typeface="微软雅黑" panose="020B0503020204020204" charset="-122"/>
                <a:ea typeface="微软雅黑" panose="020B0503020204020204" charset="-122"/>
                <a:cs typeface="微软雅黑" panose="020B0503020204020204" charset="-122"/>
              </a:rPr>
              <a:t>基于</a:t>
            </a:r>
            <a:r>
              <a:rPr kumimoji="1" lang="en-US" altLang="zh-CN" sz="4000" b="1" dirty="0">
                <a:solidFill>
                  <a:srgbClr val="244B61"/>
                </a:solidFill>
                <a:latin typeface="微软雅黑" panose="020B0503020204020204" charset="-122"/>
                <a:ea typeface="微软雅黑" panose="020B0503020204020204" charset="-122"/>
                <a:cs typeface="微软雅黑" panose="020B0503020204020204" charset="-122"/>
              </a:rPr>
              <a:t>Xna</a:t>
            </a:r>
            <a:r>
              <a:rPr kumimoji="1" lang="zh-CN" altLang="en-US" sz="4000" b="1" dirty="0">
                <a:solidFill>
                  <a:srgbClr val="244B61"/>
                </a:solidFill>
                <a:latin typeface="微软雅黑" panose="020B0503020204020204" charset="-122"/>
                <a:ea typeface="微软雅黑" panose="020B0503020204020204" charset="-122"/>
                <a:cs typeface="微软雅黑" panose="020B0503020204020204" charset="-122"/>
              </a:rPr>
              <a:t>跨平台框架的轻量级</a:t>
            </a:r>
            <a:r>
              <a:rPr kumimoji="1" lang="en-US" altLang="zh-CN" sz="4000" b="1" dirty="0">
                <a:solidFill>
                  <a:srgbClr val="244B61"/>
                </a:solidFill>
                <a:latin typeface="微软雅黑" panose="020B0503020204020204" charset="-122"/>
                <a:ea typeface="微软雅黑" panose="020B0503020204020204" charset="-122"/>
                <a:cs typeface="微软雅黑" panose="020B0503020204020204" charset="-122"/>
              </a:rPr>
              <a:t>2D</a:t>
            </a:r>
            <a:r>
              <a:rPr kumimoji="1" lang="zh-CN" altLang="en-US" sz="4000" b="1" dirty="0">
                <a:solidFill>
                  <a:srgbClr val="244B61"/>
                </a:solidFill>
                <a:latin typeface="微软雅黑" panose="020B0503020204020204" charset="-122"/>
                <a:ea typeface="微软雅黑" panose="020B0503020204020204" charset="-122"/>
                <a:cs typeface="微软雅黑" panose="020B0503020204020204" charset="-122"/>
              </a:rPr>
              <a:t>游戏引擎开发汇报</a:t>
            </a:r>
            <a:endParaRPr kumimoji="1" lang="zh-CN" altLang="en-US" sz="4000" b="1" dirty="0">
              <a:solidFill>
                <a:srgbClr val="244B61"/>
              </a:solidFill>
              <a:latin typeface="微软雅黑" panose="020B0503020204020204" charset="-122"/>
              <a:ea typeface="微软雅黑" panose="020B0503020204020204" charset="-122"/>
              <a:cs typeface="微软雅黑" panose="020B0503020204020204" charset="-122"/>
            </a:endParaRP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5200" y="382362"/>
            <a:ext cx="1964267" cy="618074"/>
          </a:xfrm>
          <a:prstGeom prst="rect">
            <a:avLst/>
          </a:prstGeom>
        </p:spPr>
      </p:pic>
      <p:pic>
        <p:nvPicPr>
          <p:cNvPr id="2" name="图片 1" descr="资源 5"/>
          <p:cNvPicPr>
            <a:picLocks noChangeAspect="1"/>
          </p:cNvPicPr>
          <p:nvPr/>
        </p:nvPicPr>
        <p:blipFill>
          <a:blip r:embed="rId3"/>
          <a:stretch>
            <a:fillRect/>
          </a:stretch>
        </p:blipFill>
        <p:spPr>
          <a:xfrm>
            <a:off x="344170" y="333375"/>
            <a:ext cx="2924175" cy="666750"/>
          </a:xfrm>
          <a:prstGeom prst="rect">
            <a:avLst/>
          </a:prstGeom>
        </p:spPr>
      </p:pic>
      <p:sp>
        <p:nvSpPr>
          <p:cNvPr id="14" name="文本框 13"/>
          <p:cNvSpPr txBox="1"/>
          <p:nvPr/>
        </p:nvSpPr>
        <p:spPr>
          <a:xfrm>
            <a:off x="1061720" y="5953760"/>
            <a:ext cx="10068560" cy="460375"/>
          </a:xfrm>
          <a:prstGeom prst="rect">
            <a:avLst/>
          </a:prstGeom>
          <a:noFill/>
        </p:spPr>
        <p:txBody>
          <a:bodyPr wrap="square" rtlCol="0">
            <a:spAutoFit/>
          </a:bodyPr>
          <a:p>
            <a:pPr algn="ctr"/>
            <a:r>
              <a:rPr kumimoji="1" lang="en-US" sz="2400" b="1" dirty="0">
                <a:solidFill>
                  <a:schemeClr val="bg1"/>
                </a:solidFill>
                <a:latin typeface="微软雅黑" panose="020B0503020204020204" charset="-122"/>
                <a:ea typeface="微软雅黑" panose="020B0503020204020204" charset="-122"/>
                <a:cs typeface="微软雅黑" panose="020B0503020204020204" charset="-122"/>
              </a:rPr>
              <a:t>2025</a:t>
            </a:r>
            <a:r>
              <a:rPr kumimoji="1" lang="zh-CN" altLang="en-US" sz="2400" b="1" dirty="0">
                <a:solidFill>
                  <a:schemeClr val="bg1"/>
                </a:solidFill>
                <a:latin typeface="微软雅黑" panose="020B0503020204020204" charset="-122"/>
                <a:ea typeface="微软雅黑" panose="020B0503020204020204" charset="-122"/>
                <a:cs typeface="微软雅黑" panose="020B0503020204020204" charset="-122"/>
              </a:rPr>
              <a:t>年</a:t>
            </a:r>
            <a:r>
              <a:rPr kumimoji="1" lang="en-US" altLang="zh-CN" sz="2400" b="1" dirty="0">
                <a:solidFill>
                  <a:schemeClr val="bg1"/>
                </a:solidFill>
                <a:latin typeface="微软雅黑" panose="020B0503020204020204" charset="-122"/>
                <a:ea typeface="微软雅黑" panose="020B0503020204020204" charset="-122"/>
                <a:cs typeface="微软雅黑" panose="020B0503020204020204" charset="-122"/>
              </a:rPr>
              <a:t>11</a:t>
            </a:r>
            <a:r>
              <a:rPr kumimoji="1" lang="zh-CN" altLang="en-US" sz="2400" b="1" dirty="0">
                <a:solidFill>
                  <a:schemeClr val="bg1"/>
                </a:solidFill>
                <a:latin typeface="微软雅黑" panose="020B0503020204020204" charset="-122"/>
                <a:ea typeface="微软雅黑" panose="020B0503020204020204" charset="-122"/>
                <a:cs typeface="微软雅黑" panose="020B0503020204020204" charset="-122"/>
              </a:rPr>
              <a:t>月</a:t>
            </a:r>
            <a:endParaRPr kumimoji="1" lang="zh-CN" altLang="en-US" sz="2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矩形 14"/>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206489" y="1720372"/>
            <a:ext cx="3117231" cy="523220"/>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矩形 1"/>
          <p:cNvSpPr/>
          <p:nvPr/>
        </p:nvSpPr>
        <p:spPr>
          <a:xfrm>
            <a:off x="0" y="6688667"/>
            <a:ext cx="12192000" cy="169333"/>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alphaModFix amt="15000"/>
            <a:extLst>
              <a:ext uri="{28A0092B-C50C-407E-A947-70E740481C1C}">
                <a14:useLocalDpi xmlns:a14="http://schemas.microsoft.com/office/drawing/2010/main" val="0"/>
              </a:ext>
            </a:extLst>
          </a:blip>
          <a:stretch>
            <a:fillRect/>
          </a:stretch>
        </p:blipFill>
        <p:spPr>
          <a:xfrm>
            <a:off x="9838266" y="338667"/>
            <a:ext cx="1964267" cy="618074"/>
          </a:xfrm>
          <a:prstGeom prst="rect">
            <a:avLst/>
          </a:prstGeom>
        </p:spPr>
      </p:pic>
      <p:sp>
        <p:nvSpPr>
          <p:cNvPr id="6" name="矩形 5"/>
          <p:cNvSpPr/>
          <p:nvPr/>
        </p:nvSpPr>
        <p:spPr>
          <a:xfrm>
            <a:off x="4348979" y="1675750"/>
            <a:ext cx="2832252" cy="584775"/>
          </a:xfrm>
          <a:prstGeom prst="rect">
            <a:avLst/>
          </a:prstGeom>
        </p:spPr>
        <p:txBody>
          <a:bodyPr wrap="square" anchor="ctr">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algn="ctr"/>
            <a:r>
              <a:rPr lang="zh-CN" altLang="en-US" sz="3200" b="1" dirty="0" smtClean="0">
                <a:solidFill>
                  <a:schemeClr val="bg1"/>
                </a:solidFill>
                <a:latin typeface="微软雅黑" panose="020B0503020204020204" charset="-122"/>
                <a:ea typeface="微软雅黑" panose="020B0503020204020204" charset="-122"/>
              </a:rPr>
              <a:t>目      录</a:t>
            </a:r>
            <a:endParaRPr lang="zh-CN" altLang="en-US" sz="3200" b="1" dirty="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3163570" y="2691130"/>
            <a:ext cx="5713730" cy="2306955"/>
          </a:xfrm>
          <a:prstGeom prst="rect">
            <a:avLst/>
          </a:prstGeom>
          <a:noFill/>
        </p:spPr>
        <p:txBody>
          <a:bodyPr wrap="square" rtlCol="0">
            <a:spAutoFit/>
          </a:bodyPr>
          <a:lstStyle>
            <a:defPPr>
              <a:defRPr lang="zh-CN"/>
            </a:defPPr>
            <a:lvl1pPr marL="0" algn="l" defTabSz="975995" rtl="0" eaLnBrk="1" latinLnBrk="0" hangingPunct="1">
              <a:defRPr sz="1920" kern="1200">
                <a:solidFill>
                  <a:schemeClr val="tx1"/>
                </a:solidFill>
                <a:latin typeface="+mn-lt"/>
                <a:ea typeface="+mn-ea"/>
                <a:cs typeface="+mn-cs"/>
              </a:defRPr>
            </a:lvl1pPr>
            <a:lvl2pPr marL="488315" algn="l" defTabSz="975995" rtl="0" eaLnBrk="1" latinLnBrk="0" hangingPunct="1">
              <a:defRPr sz="1920" kern="1200">
                <a:solidFill>
                  <a:schemeClr val="tx1"/>
                </a:solidFill>
                <a:latin typeface="+mn-lt"/>
                <a:ea typeface="+mn-ea"/>
                <a:cs typeface="+mn-cs"/>
              </a:defRPr>
            </a:lvl2pPr>
            <a:lvl3pPr marL="975995" algn="l" defTabSz="975995" rtl="0" eaLnBrk="1" latinLnBrk="0" hangingPunct="1">
              <a:defRPr sz="1920" kern="1200">
                <a:solidFill>
                  <a:schemeClr val="tx1"/>
                </a:solidFill>
                <a:latin typeface="+mn-lt"/>
                <a:ea typeface="+mn-ea"/>
                <a:cs typeface="+mn-cs"/>
              </a:defRPr>
            </a:lvl3pPr>
            <a:lvl4pPr marL="1464310" algn="l" defTabSz="975995" rtl="0" eaLnBrk="1" latinLnBrk="0" hangingPunct="1">
              <a:defRPr sz="1920" kern="1200">
                <a:solidFill>
                  <a:schemeClr val="tx1"/>
                </a:solidFill>
                <a:latin typeface="+mn-lt"/>
                <a:ea typeface="+mn-ea"/>
                <a:cs typeface="+mn-cs"/>
              </a:defRPr>
            </a:lvl4pPr>
            <a:lvl5pPr marL="1952625" algn="l" defTabSz="975995" rtl="0" eaLnBrk="1" latinLnBrk="0" hangingPunct="1">
              <a:defRPr sz="1920" kern="1200">
                <a:solidFill>
                  <a:schemeClr val="tx1"/>
                </a:solidFill>
                <a:latin typeface="+mn-lt"/>
                <a:ea typeface="+mn-ea"/>
                <a:cs typeface="+mn-cs"/>
              </a:defRPr>
            </a:lvl5pPr>
            <a:lvl6pPr marL="2440305" algn="l" defTabSz="975995" rtl="0" eaLnBrk="1" latinLnBrk="0" hangingPunct="1">
              <a:defRPr sz="1920" kern="1200">
                <a:solidFill>
                  <a:schemeClr val="tx1"/>
                </a:solidFill>
                <a:latin typeface="+mn-lt"/>
                <a:ea typeface="+mn-ea"/>
                <a:cs typeface="+mn-cs"/>
              </a:defRPr>
            </a:lvl6pPr>
            <a:lvl7pPr marL="2928620" algn="l" defTabSz="975995" rtl="0" eaLnBrk="1" latinLnBrk="0" hangingPunct="1">
              <a:defRPr sz="1920" kern="1200">
                <a:solidFill>
                  <a:schemeClr val="tx1"/>
                </a:solidFill>
                <a:latin typeface="+mn-lt"/>
                <a:ea typeface="+mn-ea"/>
                <a:cs typeface="+mn-cs"/>
              </a:defRPr>
            </a:lvl7pPr>
            <a:lvl8pPr marL="3416935" algn="l" defTabSz="975995" rtl="0" eaLnBrk="1" latinLnBrk="0" hangingPunct="1">
              <a:defRPr sz="1920" kern="1200">
                <a:solidFill>
                  <a:schemeClr val="tx1"/>
                </a:solidFill>
                <a:latin typeface="+mn-lt"/>
                <a:ea typeface="+mn-ea"/>
                <a:cs typeface="+mn-cs"/>
              </a:defRPr>
            </a:lvl8pPr>
            <a:lvl9pPr marL="3904615" algn="l" defTabSz="975995" rtl="0" eaLnBrk="1" latinLnBrk="0" hangingPunct="1">
              <a:defRPr sz="1920" kern="1200">
                <a:solidFill>
                  <a:schemeClr val="tx1"/>
                </a:solidFill>
                <a:latin typeface="+mn-lt"/>
                <a:ea typeface="+mn-ea"/>
                <a:cs typeface="+mn-cs"/>
              </a:defRPr>
            </a:lvl9pPr>
          </a:lstStyle>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1</a:t>
            </a:r>
            <a:r>
              <a:rPr lang="zh-CN" altLang="en-US" sz="2400" i="1" dirty="0" smtClean="0">
                <a:solidFill>
                  <a:srgbClr val="065980"/>
                </a:solidFill>
                <a:latin typeface="微软雅黑" panose="020B0503020204020204" charset="-122"/>
                <a:ea typeface="微软雅黑" panose="020B0503020204020204" charset="-122"/>
              </a:rPr>
              <a:t>、系统总架构介绍</a:t>
            </a:r>
            <a:endParaRPr lang="en-US" altLang="zh-CN" sz="2400" i="1"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2</a:t>
            </a:r>
            <a:r>
              <a:rPr lang="zh-CN" altLang="en-US" sz="2400" i="1" dirty="0" smtClean="0">
                <a:solidFill>
                  <a:srgbClr val="065980"/>
                </a:solidFill>
                <a:latin typeface="微软雅黑" panose="020B0503020204020204" charset="-122"/>
                <a:ea typeface="微软雅黑" panose="020B0503020204020204" charset="-122"/>
              </a:rPr>
              <a:t>、</a:t>
            </a:r>
            <a:r>
              <a:rPr lang="en-US" altLang="zh-CN" sz="2400" i="1" dirty="0" smtClean="0">
                <a:solidFill>
                  <a:srgbClr val="065980"/>
                </a:solidFill>
                <a:latin typeface="微软雅黑" panose="020B0503020204020204" charset="-122"/>
                <a:ea typeface="微软雅黑" panose="020B0503020204020204" charset="-122"/>
              </a:rPr>
              <a:t>ECS</a:t>
            </a:r>
            <a:r>
              <a:rPr lang="zh-CN" altLang="en-US" sz="2400" i="1" dirty="0" smtClean="0">
                <a:solidFill>
                  <a:srgbClr val="065980"/>
                </a:solidFill>
                <a:latin typeface="微软雅黑" panose="020B0503020204020204" charset="-122"/>
                <a:ea typeface="微软雅黑" panose="020B0503020204020204" charset="-122"/>
              </a:rPr>
              <a:t>架构</a:t>
            </a:r>
            <a:r>
              <a:rPr lang="zh-CN" altLang="en-US" sz="2400" i="1" dirty="0" smtClean="0">
                <a:solidFill>
                  <a:srgbClr val="065980"/>
                </a:solidFill>
                <a:latin typeface="微软雅黑" panose="020B0503020204020204" charset="-122"/>
                <a:ea typeface="微软雅黑" panose="020B0503020204020204" charset="-122"/>
              </a:rPr>
              <a:t>各模块功能介绍</a:t>
            </a:r>
            <a:endParaRPr lang="en-US" altLang="zh-CN" sz="2400" i="1"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3</a:t>
            </a:r>
            <a:r>
              <a:rPr lang="zh-CN" altLang="en-US" sz="2400" i="1" dirty="0" smtClean="0">
                <a:solidFill>
                  <a:srgbClr val="065980"/>
                </a:solidFill>
                <a:latin typeface="微软雅黑" panose="020B0503020204020204" charset="-122"/>
                <a:ea typeface="微软雅黑" panose="020B0503020204020204" charset="-122"/>
              </a:rPr>
              <a:t>、创新点</a:t>
            </a:r>
            <a:endParaRPr lang="en-US" altLang="zh-CN" sz="2400" i="1" dirty="0" smtClean="0">
              <a:solidFill>
                <a:srgbClr val="065980"/>
              </a:solidFill>
              <a:latin typeface="微软雅黑" panose="020B0503020204020204" charset="-122"/>
              <a:ea typeface="微软雅黑" panose="020B0503020204020204" charset="-122"/>
            </a:endParaRPr>
          </a:p>
          <a:p>
            <a:pPr marL="457200" lvl="1">
              <a:lnSpc>
                <a:spcPct val="150000"/>
              </a:lnSpc>
            </a:pPr>
            <a:r>
              <a:rPr lang="en-US" altLang="zh-CN" sz="2400" i="1" dirty="0" smtClean="0">
                <a:solidFill>
                  <a:srgbClr val="065980"/>
                </a:solidFill>
                <a:latin typeface="微软雅黑" panose="020B0503020204020204" charset="-122"/>
                <a:ea typeface="微软雅黑" panose="020B0503020204020204" charset="-122"/>
              </a:rPr>
              <a:t>4</a:t>
            </a:r>
            <a:r>
              <a:rPr lang="zh-CN" altLang="en-US" sz="2400" i="1" dirty="0" smtClean="0">
                <a:solidFill>
                  <a:srgbClr val="065980"/>
                </a:solidFill>
                <a:latin typeface="微软雅黑" panose="020B0503020204020204" charset="-122"/>
                <a:ea typeface="微软雅黑" panose="020B0503020204020204" charset="-122"/>
              </a:rPr>
              <a:t>、</a:t>
            </a:r>
            <a:r>
              <a:rPr lang="zh-CN" altLang="en-US" sz="2400" i="1" dirty="0" smtClean="0">
                <a:solidFill>
                  <a:srgbClr val="065980"/>
                </a:solidFill>
                <a:latin typeface="微软雅黑" panose="020B0503020204020204" charset="-122"/>
                <a:ea typeface="微软雅黑" panose="020B0503020204020204" charset="-122"/>
              </a:rPr>
              <a:t>组内分工</a:t>
            </a:r>
            <a:endParaRPr lang="zh-CN" altLang="en-US" sz="2400" i="1" dirty="0" smtClean="0">
              <a:solidFill>
                <a:srgbClr val="065980"/>
              </a:solidFill>
              <a:latin typeface="微软雅黑" panose="020B0503020204020204" charset="-122"/>
              <a:ea typeface="微软雅黑" panose="020B0503020204020204" charset="-122"/>
            </a:endParaRPr>
          </a:p>
        </p:txBody>
      </p:sp>
      <p:pic>
        <p:nvPicPr>
          <p:cNvPr id="4" name="图片 3" descr="资源 5"/>
          <p:cNvPicPr>
            <a:picLocks noChangeAspect="1"/>
          </p:cNvPicPr>
          <p:nvPr/>
        </p:nvPicPr>
        <p:blipFill>
          <a:blip r:embed="rId2"/>
          <a:stretch>
            <a:fillRect/>
          </a:stretch>
        </p:blipFill>
        <p:spPr>
          <a:xfrm>
            <a:off x="344170" y="333375"/>
            <a:ext cx="2924175" cy="66675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01-01品牌文化-已拓展-01"/>
          <p:cNvPicPr>
            <a:picLocks noChangeAspect="1"/>
          </p:cNvPicPr>
          <p:nvPr/>
        </p:nvPicPr>
        <p:blipFill>
          <a:blip r:embed="rId1"/>
          <a:stretch>
            <a:fillRect/>
          </a:stretch>
        </p:blipFill>
        <p:spPr>
          <a:xfrm>
            <a:off x="0" y="0"/>
            <a:ext cx="12191365" cy="6866255"/>
          </a:xfrm>
          <a:prstGeom prst="rect">
            <a:avLst/>
          </a:prstGeom>
        </p:spPr>
      </p:pic>
      <p:sp>
        <p:nvSpPr>
          <p:cNvPr id="5" name="文本框 4"/>
          <p:cNvSpPr txBox="1"/>
          <p:nvPr/>
        </p:nvSpPr>
        <p:spPr>
          <a:xfrm>
            <a:off x="3024082" y="556771"/>
            <a:ext cx="6925733" cy="1014730"/>
          </a:xfrm>
          <a:prstGeom prst="rect">
            <a:avLst/>
          </a:prstGeom>
          <a:noFill/>
        </p:spPr>
        <p:txBody>
          <a:bodyPr wrap="square" rtlCol="0">
            <a:spAutoFit/>
          </a:bodyPr>
          <a:lstStyle/>
          <a:p>
            <a:pPr algn="l"/>
            <a:r>
              <a:rPr kumimoji="1" lang="en-US" altLang="zh-CN" sz="6000" b="1" dirty="0" smtClean="0">
                <a:solidFill>
                  <a:schemeClr val="accent1"/>
                </a:solidFill>
                <a:latin typeface="微软雅黑" panose="020B0503020204020204" charset="-122"/>
                <a:ea typeface="微软雅黑" panose="020B0503020204020204" charset="-122"/>
                <a:cs typeface="微软雅黑" panose="020B0503020204020204" charset="-122"/>
              </a:rPr>
              <a:t>1.</a:t>
            </a:r>
            <a:r>
              <a:rPr kumimoji="1" lang="zh-CN" altLang="en-US" sz="6000" b="1" dirty="0" smtClean="0">
                <a:solidFill>
                  <a:schemeClr val="accent1"/>
                </a:solidFill>
                <a:latin typeface="微软雅黑" panose="020B0503020204020204" charset="-122"/>
                <a:ea typeface="微软雅黑" panose="020B0503020204020204" charset="-122"/>
                <a:cs typeface="微软雅黑" panose="020B0503020204020204" charset="-122"/>
              </a:rPr>
              <a:t>系统总架构介绍</a:t>
            </a:r>
            <a:endParaRPr kumimoji="1" lang="zh-CN" altLang="en-US" sz="6000" b="1" dirty="0" smtClean="0">
              <a:solidFill>
                <a:schemeClr val="accent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资源 5"/>
          <p:cNvPicPr>
            <a:picLocks noChangeAspect="1"/>
          </p:cNvPicPr>
          <p:nvPr/>
        </p:nvPicPr>
        <p:blipFill>
          <a:blip r:embed="rId1"/>
          <a:stretch>
            <a:fillRect/>
          </a:stretch>
        </p:blipFill>
        <p:spPr>
          <a:xfrm>
            <a:off x="121920" y="63500"/>
            <a:ext cx="2924175" cy="666750"/>
          </a:xfrm>
          <a:prstGeom prst="rect">
            <a:avLst/>
          </a:prstGeom>
        </p:spPr>
      </p:pic>
      <p:pic>
        <p:nvPicPr>
          <p:cNvPr id="8" name="图片 7" descr="屏幕截图 2025-11-03 201310"/>
          <p:cNvPicPr>
            <a:picLocks noChangeAspect="1"/>
          </p:cNvPicPr>
          <p:nvPr/>
        </p:nvPicPr>
        <p:blipFill>
          <a:blip r:embed="rId2"/>
          <a:stretch>
            <a:fillRect/>
          </a:stretch>
        </p:blipFill>
        <p:spPr>
          <a:xfrm>
            <a:off x="1198880" y="497840"/>
            <a:ext cx="10795000" cy="636016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01-01品牌文化-已拓展-01"/>
          <p:cNvPicPr>
            <a:picLocks noChangeAspect="1"/>
          </p:cNvPicPr>
          <p:nvPr/>
        </p:nvPicPr>
        <p:blipFill>
          <a:blip r:embed="rId1"/>
          <a:stretch>
            <a:fillRect/>
          </a:stretch>
        </p:blipFill>
        <p:spPr>
          <a:xfrm>
            <a:off x="0" y="0"/>
            <a:ext cx="12191365" cy="6866255"/>
          </a:xfrm>
          <a:prstGeom prst="rect">
            <a:avLst/>
          </a:prstGeom>
        </p:spPr>
      </p:pic>
      <p:sp>
        <p:nvSpPr>
          <p:cNvPr id="5" name="文本框 4"/>
          <p:cNvSpPr txBox="1"/>
          <p:nvPr/>
        </p:nvSpPr>
        <p:spPr>
          <a:xfrm>
            <a:off x="2069465" y="556895"/>
            <a:ext cx="9309735" cy="1014730"/>
          </a:xfrm>
          <a:prstGeom prst="rect">
            <a:avLst/>
          </a:prstGeom>
          <a:noFill/>
        </p:spPr>
        <p:txBody>
          <a:bodyPr wrap="square" rtlCol="0">
            <a:spAutoFit/>
          </a:bodyPr>
          <a:lstStyle/>
          <a:p>
            <a:pPr algn="l"/>
            <a:r>
              <a:rPr kumimoji="1" lang="en-US" sz="6000" b="1" dirty="0" smtClean="0">
                <a:solidFill>
                  <a:schemeClr val="accent1"/>
                </a:solidFill>
                <a:latin typeface="微软雅黑" panose="020B0503020204020204" charset="-122"/>
                <a:ea typeface="微软雅黑" panose="020B0503020204020204" charset="-122"/>
                <a:cs typeface="微软雅黑" panose="020B0503020204020204" charset="-122"/>
              </a:rPr>
              <a:t>2.</a:t>
            </a:r>
            <a:r>
              <a:rPr kumimoji="1" lang="en-US" sz="6000" b="1" dirty="0" smtClean="0">
                <a:solidFill>
                  <a:schemeClr val="accent1"/>
                </a:solidFill>
                <a:latin typeface="微软雅黑" panose="020B0503020204020204" charset="-122"/>
                <a:ea typeface="微软雅黑" panose="020B0503020204020204" charset="-122"/>
                <a:cs typeface="微软雅黑" panose="020B0503020204020204" charset="-122"/>
                <a:sym typeface="+mn-ea"/>
              </a:rPr>
              <a:t>ECS架构各模块功能介绍</a:t>
            </a:r>
            <a:endParaRPr kumimoji="1" lang="en-US" sz="6000" b="1" dirty="0" smtClean="0">
              <a:solidFill>
                <a:schemeClr val="accent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alphaModFix amt="4000"/>
            <a:extLst>
              <a:ext uri="{28A0092B-C50C-407E-A947-70E740481C1C}">
                <a14:useLocalDpi xmlns:a14="http://schemas.microsoft.com/office/drawing/2010/main" val="0"/>
              </a:ext>
            </a:extLst>
          </a:blip>
          <a:srcRect t="4939" r="28793" b="22469"/>
          <a:stretch>
            <a:fillRect/>
          </a:stretch>
        </p:blipFill>
        <p:spPr>
          <a:xfrm>
            <a:off x="2641601" y="902926"/>
            <a:ext cx="9550400" cy="5955074"/>
          </a:xfrm>
          <a:prstGeom prst="rect">
            <a:avLst/>
          </a:prstGeom>
        </p:spPr>
      </p:pic>
      <p:sp>
        <p:nvSpPr>
          <p:cNvPr id="4" name="文本框 3"/>
          <p:cNvSpPr txBox="1"/>
          <p:nvPr/>
        </p:nvSpPr>
        <p:spPr>
          <a:xfrm>
            <a:off x="2286000" y="2988945"/>
            <a:ext cx="8100060" cy="2553335"/>
          </a:xfrm>
          <a:prstGeom prst="rect">
            <a:avLst/>
          </a:prstGeom>
          <a:noFill/>
        </p:spPr>
        <p:txBody>
          <a:bodyPr wrap="square" rtlCol="0">
            <a:spAutoFit/>
          </a:bodyPr>
          <a:lstStyle/>
          <a:p>
            <a:pPr indent="457200"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架构底层是</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ECS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架构中引擎或框架的基础设施，与</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ECS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核心逻辑不直接相关，但为所有模块提供支持。在本工程中使用了</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MonoGame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框架，它提供了系统层更新、渲染系统、底层图形</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API</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、资源加载、</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2D</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渲染等功能。具体为等函数。</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indent="457200"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引擎选用的</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MonoGame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框架是一款基于微软</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Xna</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跨平台架构的开源工具，封装了一部分游戏开发中常用的功能类，在此框架下，游戏流程被划分为</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Initialize,Update,LoadContent,Draw</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四个阶段，并提供了相应的</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4</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个生命周期事件</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函数</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1279525" y="2225675"/>
            <a:ext cx="2373630" cy="583565"/>
          </a:xfrm>
          <a:prstGeom prst="rect">
            <a:avLst/>
          </a:prstGeom>
          <a:noFill/>
        </p:spPr>
        <p:txBody>
          <a:bodyPr wrap="square" rtlCol="0">
            <a:spAutoFit/>
          </a:bodyPr>
          <a:lstStyle/>
          <a:p>
            <a:r>
              <a:rPr kumimoji="1" lang="en-US" altLang="zh-CN" sz="3200" b="1" dirty="0" smtClean="0">
                <a:latin typeface="微软雅黑" panose="020B0503020204020204" charset="-122"/>
                <a:ea typeface="微软雅黑" panose="020B0503020204020204" charset="-122"/>
                <a:cs typeface="微软雅黑" panose="020B0503020204020204" charset="-122"/>
              </a:rPr>
              <a:t>1.</a:t>
            </a:r>
            <a:r>
              <a:rPr kumimoji="1" lang="zh-CN" altLang="en-US" sz="3200" b="1" dirty="0" smtClean="0">
                <a:latin typeface="微软雅黑" panose="020B0503020204020204" charset="-122"/>
                <a:ea typeface="微软雅黑" panose="020B0503020204020204" charset="-122"/>
                <a:cs typeface="微软雅黑" panose="020B0503020204020204" charset="-122"/>
              </a:rPr>
              <a:t>架构</a:t>
            </a:r>
            <a:r>
              <a:rPr kumimoji="1" lang="zh-CN" altLang="en-US" sz="3200" b="1" dirty="0" smtClean="0">
                <a:latin typeface="微软雅黑" panose="020B0503020204020204" charset="-122"/>
                <a:ea typeface="微软雅黑" panose="020B0503020204020204" charset="-122"/>
                <a:cs typeface="微软雅黑" panose="020B0503020204020204" charset="-122"/>
              </a:rPr>
              <a:t>底层</a:t>
            </a:r>
            <a:endParaRPr kumimoji="1" lang="zh-CN" altLang="en-US" sz="3200" b="1" dirty="0" smtClean="0">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flipV="1">
            <a:off x="3860800" y="2547198"/>
            <a:ext cx="6129867" cy="45719"/>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a:t>5</a:t>
            </a:r>
            <a:endParaRPr kumimoji="1" lang="en-US" altLang="zh-CN"/>
          </a:p>
        </p:txBody>
      </p:sp>
      <p:pic>
        <p:nvPicPr>
          <p:cNvPr id="7" name="图片 6" descr="资源 5"/>
          <p:cNvPicPr>
            <a:picLocks noChangeAspect="1"/>
          </p:cNvPicPr>
          <p:nvPr/>
        </p:nvPicPr>
        <p:blipFill>
          <a:blip r:embed="rId2"/>
          <a:stretch>
            <a:fillRect/>
          </a:stretch>
        </p:blipFill>
        <p:spPr>
          <a:xfrm>
            <a:off x="344170" y="333375"/>
            <a:ext cx="2924175" cy="66675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alphaModFix amt="4000"/>
            <a:extLst>
              <a:ext uri="{28A0092B-C50C-407E-A947-70E740481C1C}">
                <a14:useLocalDpi xmlns:a14="http://schemas.microsoft.com/office/drawing/2010/main" val="0"/>
              </a:ext>
            </a:extLst>
          </a:blip>
          <a:srcRect t="4939" r="28793" b="22469"/>
          <a:stretch>
            <a:fillRect/>
          </a:stretch>
        </p:blipFill>
        <p:spPr>
          <a:xfrm>
            <a:off x="2641601" y="902926"/>
            <a:ext cx="9550400" cy="5955074"/>
          </a:xfrm>
          <a:prstGeom prst="rect">
            <a:avLst/>
          </a:prstGeom>
        </p:spPr>
      </p:pic>
      <p:sp>
        <p:nvSpPr>
          <p:cNvPr id="4" name="文本框 3"/>
          <p:cNvSpPr txBox="1"/>
          <p:nvPr/>
        </p:nvSpPr>
        <p:spPr>
          <a:xfrm>
            <a:off x="2285999" y="2988871"/>
            <a:ext cx="7840133" cy="1938020"/>
          </a:xfrm>
          <a:prstGeom prst="rect">
            <a:avLst/>
          </a:prstGeom>
          <a:noFill/>
        </p:spPr>
        <p:txBody>
          <a:bodyPr wrap="square" rtlCol="0">
            <a:spAutoFit/>
          </a:bodyPr>
          <a:lstStyle/>
          <a:p>
            <a:pPr indent="457200"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转换层是将外部数据或传统</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OOP</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对象转换成</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ECS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结构，起到适配作用。本工程中，起到转换层作用的主要为</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Scene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类，使架构原生的生命周期函数调用得以驱动引擎表层</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ECS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结构的生命周期活动。</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Scene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类管理着所有实体，维护活动实体列表和状态，管理</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MonoGame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资源加载</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时机，实现了</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MonoGame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框架下生命周期函数向</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ECS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框架的</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转换。</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279525" y="2225675"/>
            <a:ext cx="2373630" cy="583565"/>
          </a:xfrm>
          <a:prstGeom prst="rect">
            <a:avLst/>
          </a:prstGeom>
          <a:noFill/>
        </p:spPr>
        <p:txBody>
          <a:bodyPr wrap="square" rtlCol="0">
            <a:spAutoFit/>
          </a:bodyPr>
          <a:lstStyle/>
          <a:p>
            <a:r>
              <a:rPr kumimoji="1" lang="en-US" altLang="zh-CN" sz="3200" b="1" dirty="0" smtClean="0">
                <a:latin typeface="微软雅黑" panose="020B0503020204020204" charset="-122"/>
                <a:ea typeface="微软雅黑" panose="020B0503020204020204" charset="-122"/>
                <a:cs typeface="微软雅黑" panose="020B0503020204020204" charset="-122"/>
              </a:rPr>
              <a:t>2.</a:t>
            </a:r>
            <a:r>
              <a:rPr kumimoji="1" lang="zh-CN" altLang="en-US" sz="3200" b="1" dirty="0" smtClean="0">
                <a:latin typeface="微软雅黑" panose="020B0503020204020204" charset="-122"/>
                <a:ea typeface="微软雅黑" panose="020B0503020204020204" charset="-122"/>
                <a:cs typeface="微软雅黑" panose="020B0503020204020204" charset="-122"/>
              </a:rPr>
              <a:t>转换层</a:t>
            </a:r>
            <a:endParaRPr kumimoji="1" lang="zh-CN" altLang="en-US" sz="3200" b="1" dirty="0" smtClean="0">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flipV="1">
            <a:off x="3860800" y="2547198"/>
            <a:ext cx="6129867" cy="45719"/>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a:t>5</a:t>
            </a:r>
            <a:endParaRPr kumimoji="1" lang="en-US" altLang="zh-CN"/>
          </a:p>
        </p:txBody>
      </p:sp>
      <p:pic>
        <p:nvPicPr>
          <p:cNvPr id="7" name="图片 6" descr="资源 5"/>
          <p:cNvPicPr>
            <a:picLocks noChangeAspect="1"/>
          </p:cNvPicPr>
          <p:nvPr/>
        </p:nvPicPr>
        <p:blipFill>
          <a:blip r:embed="rId2"/>
          <a:stretch>
            <a:fillRect/>
          </a:stretch>
        </p:blipFill>
        <p:spPr>
          <a:xfrm>
            <a:off x="344170" y="333375"/>
            <a:ext cx="2924175" cy="66675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alphaModFix amt="4000"/>
            <a:extLst>
              <a:ext uri="{28A0092B-C50C-407E-A947-70E740481C1C}">
                <a14:useLocalDpi xmlns:a14="http://schemas.microsoft.com/office/drawing/2010/main" val="0"/>
              </a:ext>
            </a:extLst>
          </a:blip>
          <a:srcRect t="4939" r="28793" b="22469"/>
          <a:stretch>
            <a:fillRect/>
          </a:stretch>
        </p:blipFill>
        <p:spPr>
          <a:xfrm>
            <a:off x="2641601" y="902926"/>
            <a:ext cx="9550400" cy="5955074"/>
          </a:xfrm>
          <a:prstGeom prst="rect">
            <a:avLst/>
          </a:prstGeom>
        </p:spPr>
      </p:pic>
      <p:sp>
        <p:nvSpPr>
          <p:cNvPr id="4" name="文本框 3"/>
          <p:cNvSpPr txBox="1"/>
          <p:nvPr/>
        </p:nvSpPr>
        <p:spPr>
          <a:xfrm>
            <a:off x="2285999" y="2988871"/>
            <a:ext cx="7840133" cy="1938020"/>
          </a:xfrm>
          <a:prstGeom prst="rect">
            <a:avLst/>
          </a:prstGeom>
          <a:noFill/>
        </p:spPr>
        <p:txBody>
          <a:bodyPr wrap="square" rtlCol="0">
            <a:spAutoFit/>
          </a:bodyPr>
          <a:lstStyle/>
          <a:p>
            <a:pPr indent="457200" algn="just"/>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ECS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实体层是核心数据层，包含</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Entity</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和</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Component</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的存储和基本管理。实体层具体为</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GameObject</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类，定义了坐标、标签、挂载组件等基本信息。</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indent="457200"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该类支持模板化实体创建和深拷贝实例化，极大</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的简化实体创建过程，提高代码可复用性。</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indent="457200"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创建</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的所有实体交由</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Scene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类统一管理和</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维护。</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865505" y="2225675"/>
            <a:ext cx="2787650" cy="583565"/>
          </a:xfrm>
          <a:prstGeom prst="rect">
            <a:avLst/>
          </a:prstGeom>
          <a:noFill/>
        </p:spPr>
        <p:txBody>
          <a:bodyPr wrap="square" rtlCol="0">
            <a:spAutoFit/>
          </a:bodyPr>
          <a:lstStyle/>
          <a:p>
            <a:r>
              <a:rPr kumimoji="1" lang="en-US" altLang="zh-CN" sz="3200" b="1" dirty="0" smtClean="0">
                <a:latin typeface="微软雅黑" panose="020B0503020204020204" charset="-122"/>
                <a:ea typeface="微软雅黑" panose="020B0503020204020204" charset="-122"/>
                <a:cs typeface="微软雅黑" panose="020B0503020204020204" charset="-122"/>
              </a:rPr>
              <a:t>3.ECS</a:t>
            </a:r>
            <a:r>
              <a:rPr kumimoji="1" lang="zh-CN" altLang="en-US" sz="3200" b="1" dirty="0" smtClean="0">
                <a:latin typeface="微软雅黑" panose="020B0503020204020204" charset="-122"/>
                <a:ea typeface="微软雅黑" panose="020B0503020204020204" charset="-122"/>
                <a:cs typeface="微软雅黑" panose="020B0503020204020204" charset="-122"/>
              </a:rPr>
              <a:t>实体层</a:t>
            </a:r>
            <a:endParaRPr kumimoji="1" lang="zh-CN" altLang="en-US" sz="3200" b="1" dirty="0" smtClean="0">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flipV="1">
            <a:off x="3860800" y="2547198"/>
            <a:ext cx="6129867" cy="45719"/>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a:t>5</a:t>
            </a:r>
            <a:endParaRPr kumimoji="1" lang="en-US" altLang="zh-CN"/>
          </a:p>
        </p:txBody>
      </p:sp>
      <p:pic>
        <p:nvPicPr>
          <p:cNvPr id="7" name="图片 6" descr="资源 5"/>
          <p:cNvPicPr>
            <a:picLocks noChangeAspect="1"/>
          </p:cNvPicPr>
          <p:nvPr/>
        </p:nvPicPr>
        <p:blipFill>
          <a:blip r:embed="rId2"/>
          <a:stretch>
            <a:fillRect/>
          </a:stretch>
        </p:blipFill>
        <p:spPr>
          <a:xfrm>
            <a:off x="344170" y="333375"/>
            <a:ext cx="2924175" cy="66675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alphaModFix amt="4000"/>
            <a:extLst>
              <a:ext uri="{28A0092B-C50C-407E-A947-70E740481C1C}">
                <a14:useLocalDpi xmlns:a14="http://schemas.microsoft.com/office/drawing/2010/main" val="0"/>
              </a:ext>
            </a:extLst>
          </a:blip>
          <a:srcRect t="4939" r="28793" b="22469"/>
          <a:stretch>
            <a:fillRect/>
          </a:stretch>
        </p:blipFill>
        <p:spPr>
          <a:xfrm>
            <a:off x="2641601" y="902926"/>
            <a:ext cx="9550400" cy="5955074"/>
          </a:xfrm>
          <a:prstGeom prst="rect">
            <a:avLst/>
          </a:prstGeom>
        </p:spPr>
      </p:pic>
      <p:sp>
        <p:nvSpPr>
          <p:cNvPr id="4" name="文本框 3"/>
          <p:cNvSpPr txBox="1"/>
          <p:nvPr/>
        </p:nvSpPr>
        <p:spPr>
          <a:xfrm>
            <a:off x="2285999" y="2988871"/>
            <a:ext cx="7840133" cy="2861310"/>
          </a:xfrm>
          <a:prstGeom prst="rect">
            <a:avLst/>
          </a:prstGeom>
          <a:noFill/>
        </p:spPr>
        <p:txBody>
          <a:bodyPr wrap="square" rtlCol="0">
            <a:spAutoFit/>
          </a:bodyPr>
          <a:lstStyle/>
          <a:p>
            <a:pPr indent="457200"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组件层负责实现实体需要的特定功能，每个组件都继承自</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GameComponent</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抽象类，按照需求实现</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awake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start</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Update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方法，以便上层管理。必须实现</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Clone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类以支持实例化过程中</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的深拷贝。</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indent="457200"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按照</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ECS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的理论，组件层理应为纯数据，无行为定义，但是考虑到多人合作开发和代码维护等现实因素，参考</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Unity</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等成熟商业游戏引擎的做法，在实现中为了便捷，还是将行为定义加入到组件中去，也就是将组件和系统组合在一起实现，组件也表现出半</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ECS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半</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OOP</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的</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特征。</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865505" y="2225675"/>
            <a:ext cx="2787650" cy="583565"/>
          </a:xfrm>
          <a:prstGeom prst="rect">
            <a:avLst/>
          </a:prstGeom>
          <a:noFill/>
        </p:spPr>
        <p:txBody>
          <a:bodyPr wrap="square" rtlCol="0">
            <a:spAutoFit/>
          </a:bodyPr>
          <a:lstStyle/>
          <a:p>
            <a:r>
              <a:rPr kumimoji="1" lang="en-US" sz="3200" b="1" dirty="0" smtClean="0">
                <a:latin typeface="微软雅黑" panose="020B0503020204020204" charset="-122"/>
                <a:ea typeface="微软雅黑" panose="020B0503020204020204" charset="-122"/>
                <a:cs typeface="微软雅黑" panose="020B0503020204020204" charset="-122"/>
              </a:rPr>
              <a:t>4.</a:t>
            </a:r>
            <a:r>
              <a:rPr kumimoji="1" lang="zh-CN" altLang="en-US" sz="3200" b="1" dirty="0" smtClean="0">
                <a:latin typeface="微软雅黑" panose="020B0503020204020204" charset="-122"/>
                <a:ea typeface="微软雅黑" panose="020B0503020204020204" charset="-122"/>
                <a:cs typeface="微软雅黑" panose="020B0503020204020204" charset="-122"/>
              </a:rPr>
              <a:t>组件层</a:t>
            </a:r>
            <a:endParaRPr kumimoji="1" lang="zh-CN" altLang="en-US" sz="3200" b="1" dirty="0" smtClean="0">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flipV="1">
            <a:off x="3860800" y="2547198"/>
            <a:ext cx="6129867" cy="45719"/>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a:t>5</a:t>
            </a:r>
            <a:endParaRPr kumimoji="1" lang="en-US" altLang="zh-CN"/>
          </a:p>
        </p:txBody>
      </p:sp>
      <p:pic>
        <p:nvPicPr>
          <p:cNvPr id="7" name="图片 6" descr="资源 5"/>
          <p:cNvPicPr>
            <a:picLocks noChangeAspect="1"/>
          </p:cNvPicPr>
          <p:nvPr/>
        </p:nvPicPr>
        <p:blipFill>
          <a:blip r:embed="rId2"/>
          <a:stretch>
            <a:fillRect/>
          </a:stretch>
        </p:blipFill>
        <p:spPr>
          <a:xfrm>
            <a:off x="344170" y="333375"/>
            <a:ext cx="2924175" cy="66675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alphaModFix amt="4000"/>
            <a:extLst>
              <a:ext uri="{28A0092B-C50C-407E-A947-70E740481C1C}">
                <a14:useLocalDpi xmlns:a14="http://schemas.microsoft.com/office/drawing/2010/main" val="0"/>
              </a:ext>
            </a:extLst>
          </a:blip>
          <a:srcRect t="4939" r="28793" b="22469"/>
          <a:stretch>
            <a:fillRect/>
          </a:stretch>
        </p:blipFill>
        <p:spPr>
          <a:xfrm>
            <a:off x="2641601" y="902926"/>
            <a:ext cx="9550400" cy="5955074"/>
          </a:xfrm>
          <a:prstGeom prst="rect">
            <a:avLst/>
          </a:prstGeom>
        </p:spPr>
      </p:pic>
      <p:sp>
        <p:nvSpPr>
          <p:cNvPr id="4" name="文本框 3"/>
          <p:cNvSpPr txBox="1"/>
          <p:nvPr/>
        </p:nvSpPr>
        <p:spPr>
          <a:xfrm>
            <a:off x="2285999" y="2988871"/>
            <a:ext cx="7840133" cy="2861310"/>
          </a:xfrm>
          <a:prstGeom prst="rect">
            <a:avLst/>
          </a:prstGeom>
          <a:noFill/>
        </p:spPr>
        <p:txBody>
          <a:bodyPr wrap="square" rtlCol="0">
            <a:spAutoFit/>
          </a:bodyPr>
          <a:lstStyle/>
          <a:p>
            <a:pPr indent="457200"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系统层包含行为逻辑，它们遍历拥有特定组合组件的实体，并执行更新。在工程中没有单独的类实现，而是分散在</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Scene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类和组件类中去，</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Scene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类可控制系统的更新和实体的渲染系统，还有动画系统、输入系统、</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AI</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系统等作为组件或其一部分</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实现。</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indent="457200"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特别的，在现有的隔离架构下，组件需要访问未封装的底层</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API</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时，一定需要将请求的操作和操作作为委托保存进</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Scene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类运行时的缓冲区，经由</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Scene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类统一操作，极大的利好例如渲染算法或碰撞检测算法的优化而无需更改组件的代码内容，体现了</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ECS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架构功能与数据解耦的</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优势</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865505" y="2277745"/>
            <a:ext cx="2787650" cy="583565"/>
          </a:xfrm>
          <a:prstGeom prst="rect">
            <a:avLst/>
          </a:prstGeom>
          <a:noFill/>
        </p:spPr>
        <p:txBody>
          <a:bodyPr wrap="square" rtlCol="0">
            <a:spAutoFit/>
          </a:bodyPr>
          <a:lstStyle/>
          <a:p>
            <a:r>
              <a:rPr kumimoji="1" lang="en-US" sz="3200" b="1" dirty="0" smtClean="0">
                <a:latin typeface="微软雅黑" panose="020B0503020204020204" charset="-122"/>
                <a:ea typeface="微软雅黑" panose="020B0503020204020204" charset="-122"/>
                <a:cs typeface="微软雅黑" panose="020B0503020204020204" charset="-122"/>
              </a:rPr>
              <a:t>5.</a:t>
            </a:r>
            <a:r>
              <a:rPr kumimoji="1" lang="zh-CN" altLang="en-US" sz="3200" b="1" dirty="0" smtClean="0">
                <a:latin typeface="微软雅黑" panose="020B0503020204020204" charset="-122"/>
                <a:ea typeface="微软雅黑" panose="020B0503020204020204" charset="-122"/>
                <a:cs typeface="微软雅黑" panose="020B0503020204020204" charset="-122"/>
              </a:rPr>
              <a:t>系统层</a:t>
            </a:r>
            <a:endParaRPr kumimoji="1" lang="zh-CN" altLang="en-US" sz="3200" b="1" dirty="0" smtClean="0">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flipV="1">
            <a:off x="3860800" y="2547198"/>
            <a:ext cx="6129867" cy="45719"/>
          </a:xfrm>
          <a:prstGeom prst="rect">
            <a:avLst/>
          </a:prstGeom>
          <a:solidFill>
            <a:srgbClr val="065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a:t>5</a:t>
            </a:r>
            <a:endParaRPr kumimoji="1" lang="en-US" altLang="zh-CN"/>
          </a:p>
        </p:txBody>
      </p:sp>
      <p:pic>
        <p:nvPicPr>
          <p:cNvPr id="7" name="图片 6" descr="资源 5"/>
          <p:cNvPicPr>
            <a:picLocks noChangeAspect="1"/>
          </p:cNvPicPr>
          <p:nvPr/>
        </p:nvPicPr>
        <p:blipFill>
          <a:blip r:embed="rId2"/>
          <a:stretch>
            <a:fillRect/>
          </a:stretch>
        </p:blipFill>
        <p:spPr>
          <a:xfrm>
            <a:off x="344170" y="333375"/>
            <a:ext cx="2924175" cy="66675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01-01品牌文化-已拓展-01"/>
          <p:cNvPicPr>
            <a:picLocks noChangeAspect="1"/>
          </p:cNvPicPr>
          <p:nvPr/>
        </p:nvPicPr>
        <p:blipFill>
          <a:blip r:embed="rId1"/>
          <a:stretch>
            <a:fillRect/>
          </a:stretch>
        </p:blipFill>
        <p:spPr>
          <a:xfrm>
            <a:off x="0" y="0"/>
            <a:ext cx="12191365" cy="6866255"/>
          </a:xfrm>
          <a:prstGeom prst="rect">
            <a:avLst/>
          </a:prstGeom>
        </p:spPr>
      </p:pic>
      <p:sp>
        <p:nvSpPr>
          <p:cNvPr id="5" name="文本框 4"/>
          <p:cNvSpPr txBox="1"/>
          <p:nvPr/>
        </p:nvSpPr>
        <p:spPr>
          <a:xfrm>
            <a:off x="2069465" y="556895"/>
            <a:ext cx="9309735" cy="1014730"/>
          </a:xfrm>
          <a:prstGeom prst="rect">
            <a:avLst/>
          </a:prstGeom>
          <a:noFill/>
        </p:spPr>
        <p:txBody>
          <a:bodyPr wrap="square" rtlCol="0">
            <a:spAutoFit/>
          </a:bodyPr>
          <a:lstStyle/>
          <a:p>
            <a:pPr algn="ctr"/>
            <a:r>
              <a:rPr kumimoji="1" lang="en-US" sz="6000" b="1" dirty="0" smtClean="0">
                <a:solidFill>
                  <a:schemeClr val="accent1"/>
                </a:solidFill>
                <a:latin typeface="微软雅黑" panose="020B0503020204020204" charset="-122"/>
                <a:ea typeface="微软雅黑" panose="020B0503020204020204" charset="-122"/>
                <a:cs typeface="微软雅黑" panose="020B0503020204020204" charset="-122"/>
              </a:rPr>
              <a:t>3.</a:t>
            </a:r>
            <a:r>
              <a:rPr kumimoji="1" lang="zh-CN" altLang="en-US" sz="6000" b="1" dirty="0" smtClean="0">
                <a:solidFill>
                  <a:schemeClr val="accent1"/>
                </a:solidFill>
                <a:latin typeface="微软雅黑" panose="020B0503020204020204" charset="-122"/>
                <a:ea typeface="微软雅黑" panose="020B0503020204020204" charset="-122"/>
                <a:cs typeface="微软雅黑" panose="020B0503020204020204" charset="-122"/>
                <a:sym typeface="+mn-ea"/>
              </a:rPr>
              <a:t>创新点</a:t>
            </a:r>
            <a:endParaRPr kumimoji="1" lang="zh-CN" altLang="en-US" sz="6000" b="1" dirty="0" smtClean="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alphaModFix amt="4000"/>
            <a:extLst>
              <a:ext uri="{28A0092B-C50C-407E-A947-70E740481C1C}">
                <a14:useLocalDpi xmlns:a14="http://schemas.microsoft.com/office/drawing/2010/main" val="0"/>
              </a:ext>
            </a:extLst>
          </a:blip>
          <a:srcRect t="4939" r="28793" b="22469"/>
          <a:stretch>
            <a:fillRect/>
          </a:stretch>
        </p:blipFill>
        <p:spPr>
          <a:xfrm>
            <a:off x="2641601" y="858476"/>
            <a:ext cx="9550400" cy="5955074"/>
          </a:xfrm>
          <a:prstGeom prst="rect">
            <a:avLst/>
          </a:prstGeom>
        </p:spPr>
      </p:pic>
      <p:sp>
        <p:nvSpPr>
          <p:cNvPr id="4" name="文本框 3"/>
          <p:cNvSpPr txBox="1"/>
          <p:nvPr/>
        </p:nvSpPr>
        <p:spPr>
          <a:xfrm>
            <a:off x="1037590" y="1192530"/>
            <a:ext cx="8978265" cy="4428490"/>
          </a:xfrm>
          <a:prstGeom prst="rect">
            <a:avLst/>
          </a:prstGeom>
          <a:noFill/>
        </p:spPr>
        <p:txBody>
          <a:bodyPr wrap="square" rtlCol="0">
            <a:noAutofit/>
          </a:bodyPr>
          <a:lstStyle/>
          <a:p>
            <a:pPr algn="just"/>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1.Monogame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已经是一个成熟的游戏开发框架（《星露谷物语》基于此框架开发），但是作为代码优先的开发框架，需要开发人员有较高的编程水平，且每一个基于原生</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Monogame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框架的工程都需要从头编写</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常用的工具类，传统的</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OOP</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编程又很难适应游戏这种有大量实体创建，删除，交互的特殊场景。我们的项目对</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Monogame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的基本框架进行进一步的封装，添加对常用模块的支持，并搭建出</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ECS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架构的引擎应用，使得引擎对开发人员</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友好</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algn="just"/>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2.</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现有成熟商业游戏引擎如</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Unity</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UE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等底层属于</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3D</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引擎，代码底层复杂，对跨平台支持差，往往需要针对不同平台分发不同游戏包体，而</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Monogame</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基于微软</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Xna</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跨平台应用架构，天生支持跨不同平台（</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Windows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Linux</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IOS</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）分发游戏包体，且本应用专注于</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2D</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游戏支持，代码底层足够轻量，较商业引擎有足够的性能优势</a:t>
            </a:r>
            <a:endPar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p:txBody>
      </p:sp>
      <p:pic>
        <p:nvPicPr>
          <p:cNvPr id="7" name="图片 6" descr="资源 5"/>
          <p:cNvPicPr>
            <a:picLocks noChangeAspect="1"/>
          </p:cNvPicPr>
          <p:nvPr/>
        </p:nvPicPr>
        <p:blipFill>
          <a:blip r:embed="rId2"/>
          <a:stretch>
            <a:fillRect/>
          </a:stretch>
        </p:blipFill>
        <p:spPr>
          <a:xfrm>
            <a:off x="344170" y="333375"/>
            <a:ext cx="2924175" cy="666750"/>
          </a:xfrm>
          <a:prstGeom prst="rect">
            <a:avLst/>
          </a:prstGeom>
        </p:spPr>
      </p:pic>
      <p:sp>
        <p:nvSpPr>
          <p:cNvPr id="2" name="文本框 1"/>
          <p:cNvSpPr txBox="1"/>
          <p:nvPr/>
        </p:nvSpPr>
        <p:spPr>
          <a:xfrm>
            <a:off x="3727450" y="490220"/>
            <a:ext cx="973455" cy="368300"/>
          </a:xfrm>
          <a:prstGeom prst="rect">
            <a:avLst/>
          </a:prstGeom>
          <a:noFill/>
        </p:spPr>
        <p:txBody>
          <a:bodyPr wrap="square" rtlCol="0">
            <a:spAutoFit/>
          </a:bodyPr>
          <a:p>
            <a:r>
              <a:rPr lang="zh-CN" altLang="en-US">
                <a:solidFill>
                  <a:schemeClr val="accent1"/>
                </a:solidFill>
              </a:rPr>
              <a:t>创新点</a:t>
            </a:r>
            <a:endParaRPr lang="zh-CN" altLang="en-US">
              <a:solidFill>
                <a:schemeClr val="accent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01-01品牌文化-已拓展-01"/>
          <p:cNvPicPr>
            <a:picLocks noChangeAspect="1"/>
          </p:cNvPicPr>
          <p:nvPr/>
        </p:nvPicPr>
        <p:blipFill>
          <a:blip r:embed="rId1"/>
          <a:stretch>
            <a:fillRect/>
          </a:stretch>
        </p:blipFill>
        <p:spPr>
          <a:xfrm>
            <a:off x="0" y="0"/>
            <a:ext cx="12191365" cy="6866255"/>
          </a:xfrm>
          <a:prstGeom prst="rect">
            <a:avLst/>
          </a:prstGeom>
        </p:spPr>
      </p:pic>
      <p:sp>
        <p:nvSpPr>
          <p:cNvPr id="5" name="文本框 4"/>
          <p:cNvSpPr txBox="1"/>
          <p:nvPr/>
        </p:nvSpPr>
        <p:spPr>
          <a:xfrm>
            <a:off x="2069465" y="556895"/>
            <a:ext cx="9309735" cy="1014730"/>
          </a:xfrm>
          <a:prstGeom prst="rect">
            <a:avLst/>
          </a:prstGeom>
          <a:noFill/>
        </p:spPr>
        <p:txBody>
          <a:bodyPr wrap="square" rtlCol="0">
            <a:spAutoFit/>
          </a:bodyPr>
          <a:lstStyle/>
          <a:p>
            <a:pPr algn="ctr"/>
            <a:r>
              <a:rPr kumimoji="1" lang="en-US" sz="6000" b="1" dirty="0" smtClean="0">
                <a:solidFill>
                  <a:schemeClr val="accent1"/>
                </a:solidFill>
                <a:latin typeface="微软雅黑" panose="020B0503020204020204" charset="-122"/>
                <a:ea typeface="微软雅黑" panose="020B0503020204020204" charset="-122"/>
                <a:cs typeface="微软雅黑" panose="020B0503020204020204" charset="-122"/>
              </a:rPr>
              <a:t>4.</a:t>
            </a:r>
            <a:r>
              <a:rPr kumimoji="1" lang="zh-CN" altLang="en-US" sz="6000" b="1" dirty="0" smtClean="0">
                <a:solidFill>
                  <a:schemeClr val="accent1"/>
                </a:solidFill>
                <a:latin typeface="微软雅黑" panose="020B0503020204020204" charset="-122"/>
                <a:ea typeface="微软雅黑" panose="020B0503020204020204" charset="-122"/>
                <a:cs typeface="微软雅黑" panose="020B0503020204020204" charset="-122"/>
              </a:rPr>
              <a:t>组内分工</a:t>
            </a:r>
            <a:endParaRPr kumimoji="1" lang="zh-CN" altLang="en-US" sz="6000" b="1" dirty="0" smtClean="0">
              <a:solidFill>
                <a:schemeClr val="accent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alphaModFix amt="4000"/>
            <a:extLst>
              <a:ext uri="{28A0092B-C50C-407E-A947-70E740481C1C}">
                <a14:useLocalDpi xmlns:a14="http://schemas.microsoft.com/office/drawing/2010/main" val="0"/>
              </a:ext>
            </a:extLst>
          </a:blip>
          <a:srcRect t="4939" r="28793" b="22469"/>
          <a:stretch>
            <a:fillRect/>
          </a:stretch>
        </p:blipFill>
        <p:spPr>
          <a:xfrm>
            <a:off x="2641601" y="902926"/>
            <a:ext cx="9550400" cy="5955074"/>
          </a:xfrm>
          <a:prstGeom prst="rect">
            <a:avLst/>
          </a:prstGeom>
        </p:spPr>
      </p:pic>
      <p:sp>
        <p:nvSpPr>
          <p:cNvPr id="4" name="文本框 3"/>
          <p:cNvSpPr txBox="1"/>
          <p:nvPr/>
        </p:nvSpPr>
        <p:spPr>
          <a:xfrm>
            <a:off x="2286000" y="2130425"/>
            <a:ext cx="7840345" cy="2797810"/>
          </a:xfrm>
          <a:prstGeom prst="rect">
            <a:avLst/>
          </a:prstGeom>
          <a:noFill/>
        </p:spPr>
        <p:txBody>
          <a:bodyPr wrap="square" rtlCol="0">
            <a:noAutofit/>
          </a:bodyPr>
          <a:lstStyle/>
          <a:p>
            <a:pPr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沈诗杰（组长）：游戏基础框架搭建，</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展示游戏方向定调。分工占比</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40-50%</a:t>
            </a:r>
            <a:endPar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马浩翔：策划书制作，思维导图绘制，基于游戏框架</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进行游戏</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开发。分工占</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20</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-30%</a:t>
            </a:r>
            <a:endPar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周士尧：</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UML</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类图绘制，</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基于游戏框架进行游戏</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开发。占比</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15-25</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algn="just"/>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algn="just"/>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陈自浩：工具和数据结构设计，</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基于游戏框架</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进行游戏开发</a:t>
            </a:r>
            <a:r>
              <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。占比</a:t>
            </a:r>
            <a:r>
              <a:rPr kumimoji="1" lang="en-US" altLang="zh-CN"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15-25%</a:t>
            </a:r>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pPr algn="just"/>
            <a:endParaRPr kumimoji="1" lang="zh-CN" altLang="en-US" sz="2000" dirty="0" smtClean="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3708400" y="415216"/>
            <a:ext cx="1744134" cy="583565"/>
          </a:xfrm>
          <a:prstGeom prst="rect">
            <a:avLst/>
          </a:prstGeom>
          <a:noFill/>
        </p:spPr>
        <p:txBody>
          <a:bodyPr wrap="square" rtlCol="0">
            <a:spAutoFit/>
          </a:bodyPr>
          <a:lstStyle/>
          <a:p>
            <a:r>
              <a:rPr kumimoji="1" lang="zh-CN" altLang="en-US" sz="3200" b="1" dirty="0">
                <a:latin typeface="微软雅黑" panose="020B0503020204020204" charset="-122"/>
                <a:ea typeface="微软雅黑" panose="020B0503020204020204" charset="-122"/>
                <a:cs typeface="微软雅黑" panose="020B0503020204020204" charset="-122"/>
              </a:rPr>
              <a:t>分工</a:t>
            </a:r>
            <a:endParaRPr kumimoji="1" lang="zh-CN" altLang="en-US" sz="3200" b="1" dirty="0">
              <a:latin typeface="微软雅黑" panose="020B0503020204020204" charset="-122"/>
              <a:ea typeface="微软雅黑" panose="020B0503020204020204" charset="-122"/>
              <a:cs typeface="微软雅黑" panose="020B0503020204020204" charset="-122"/>
            </a:endParaRPr>
          </a:p>
        </p:txBody>
      </p:sp>
      <p:pic>
        <p:nvPicPr>
          <p:cNvPr id="7" name="图片 6" descr="资源 5"/>
          <p:cNvPicPr>
            <a:picLocks noChangeAspect="1"/>
          </p:cNvPicPr>
          <p:nvPr/>
        </p:nvPicPr>
        <p:blipFill>
          <a:blip r:embed="rId2"/>
          <a:stretch>
            <a:fillRect/>
          </a:stretch>
        </p:blipFill>
        <p:spPr>
          <a:xfrm>
            <a:off x="344170" y="333375"/>
            <a:ext cx="2924175" cy="66675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01-01品牌文化-已拓展-01"/>
          <p:cNvPicPr>
            <a:picLocks noChangeAspect="1"/>
          </p:cNvPicPr>
          <p:nvPr/>
        </p:nvPicPr>
        <p:blipFill>
          <a:blip r:embed="rId1"/>
          <a:stretch>
            <a:fillRect/>
          </a:stretch>
        </p:blipFill>
        <p:spPr>
          <a:xfrm>
            <a:off x="0" y="0"/>
            <a:ext cx="12191365" cy="6866255"/>
          </a:xfrm>
          <a:prstGeom prst="rect">
            <a:avLst/>
          </a:prstGeom>
        </p:spPr>
      </p:pic>
      <p:sp>
        <p:nvSpPr>
          <p:cNvPr id="5" name="文本框 4"/>
          <p:cNvSpPr txBox="1"/>
          <p:nvPr/>
        </p:nvSpPr>
        <p:spPr>
          <a:xfrm>
            <a:off x="4673600" y="387438"/>
            <a:ext cx="6925733" cy="1938992"/>
          </a:xfrm>
          <a:prstGeom prst="rect">
            <a:avLst/>
          </a:prstGeom>
          <a:noFill/>
        </p:spPr>
        <p:txBody>
          <a:bodyPr wrap="square" rtlCol="0">
            <a:spAutoFit/>
          </a:bodyPr>
          <a:lstStyle/>
          <a:p>
            <a:pPr algn="r"/>
            <a:r>
              <a:rPr kumimoji="1" lang="zh-CN" altLang="en-US" sz="6000" dirty="0" smtClean="0">
                <a:solidFill>
                  <a:schemeClr val="bg1"/>
                </a:solidFill>
                <a:latin typeface="微软雅黑" panose="020B0503020204020204" charset="-122"/>
                <a:ea typeface="微软雅黑" panose="020B0503020204020204" charset="-122"/>
                <a:cs typeface="微软雅黑" panose="020B0503020204020204" charset="-122"/>
              </a:rPr>
              <a:t>汇报完毕</a:t>
            </a:r>
            <a:endParaRPr kumimoji="1" lang="en-US" altLang="zh-CN" sz="6000" dirty="0" smtClean="0">
              <a:solidFill>
                <a:schemeClr val="bg1"/>
              </a:solidFill>
              <a:latin typeface="微软雅黑" panose="020B0503020204020204" charset="-122"/>
              <a:ea typeface="微软雅黑" panose="020B0503020204020204" charset="-122"/>
              <a:cs typeface="微软雅黑" panose="020B0503020204020204" charset="-122"/>
            </a:endParaRPr>
          </a:p>
          <a:p>
            <a:pPr algn="r"/>
            <a:r>
              <a:rPr kumimoji="1" lang="zh-CN" altLang="en-US" sz="6000" dirty="0" smtClean="0">
                <a:solidFill>
                  <a:schemeClr val="bg1"/>
                </a:solidFill>
                <a:latin typeface="微软雅黑" panose="020B0503020204020204" charset="-122"/>
                <a:ea typeface="微软雅黑" panose="020B0503020204020204" charset="-122"/>
                <a:cs typeface="微软雅黑" panose="020B0503020204020204" charset="-122"/>
              </a:rPr>
              <a:t>欢迎指正</a:t>
            </a:r>
            <a:endParaRPr kumimoji="1" lang="zh-CN" altLang="en-US" sz="6000"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1671</Words>
  <Application>WPS 演示</Application>
  <PresentationFormat>宽屏</PresentationFormat>
  <Paragraphs>71</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vt:lpstr>
      <vt:lpstr>宋体</vt:lpstr>
      <vt:lpstr>Wingdings</vt:lpstr>
      <vt:lpstr>Arial</vt:lpstr>
      <vt:lpstr>微软雅黑</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WPS_1601907596</cp:lastModifiedBy>
  <cp:revision>22</cp:revision>
  <dcterms:created xsi:type="dcterms:W3CDTF">2024-01-15T04:27:00Z</dcterms:created>
  <dcterms:modified xsi:type="dcterms:W3CDTF">2025-11-05T05:31:19Z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3D3F76F926CC88483CB4A465CF09CFFC</vt:lpwstr>
  </property>
  <property fmtid="{D5CDD505-2E9C-101B-9397-08002B2CF9AE}" pid="3" name="KSOProductBuildVer">
    <vt:lpwstr>2052-12.1.0.23125</vt:lpwstr>
  </property>
</Properties>
</file>